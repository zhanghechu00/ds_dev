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企业级</a:t>
            </a:r>
            <a:r>
              <a:rPr dirty="0"/>
              <a:t> AI Agent </a:t>
            </a:r>
            <a:r>
              <a:rPr dirty="0" err="1"/>
              <a:t>智能体</a:t>
            </a:r>
            <a:br>
              <a:rPr lang="en-US" dirty="0"/>
            </a:br>
            <a:r>
              <a:rPr dirty="0" err="1"/>
              <a:t>平台建设方案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295400"/>
          </a:xfrm>
        </p:spPr>
        <p:txBody>
          <a:bodyPr>
            <a:normAutofit/>
          </a:bodyPr>
          <a:lstStyle/>
          <a:p>
            <a:r>
              <a:rPr dirty="0" err="1"/>
              <a:t>构建“数字员工”生产力引擎，驱动业务智能化转型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核心愿景 (Executive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/>
            </a:pPr>
            <a:r>
              <a:t>目标：打造企业统一的 AI 智能体开发与运行平台</a:t>
            </a:r>
          </a:p>
          <a:p>
            <a:pPr>
              <a:spcAft>
                <a:spcPts val="1000"/>
              </a:spcAft>
              <a:defRPr sz="2400"/>
            </a:pPr>
            <a:r>
              <a:t>价值主张：</a:t>
            </a:r>
          </a:p>
          <a:p>
            <a:pPr lvl="1">
              <a:spcAft>
                <a:spcPts val="1000"/>
              </a:spcAft>
              <a:defRPr sz="2000"/>
            </a:pPr>
            <a:r>
              <a:t>低门槛：让业务人员也能“雇佣”数字员工</a:t>
            </a:r>
          </a:p>
          <a:p>
            <a:pPr lvl="1">
              <a:spcAft>
                <a:spcPts val="1000"/>
              </a:spcAft>
              <a:defRPr sz="2000"/>
            </a:pPr>
            <a:r>
              <a:t>破孤岛：打通文档、数据库与遗留系统</a:t>
            </a:r>
          </a:p>
          <a:p>
            <a:pPr lvl="1">
              <a:spcAft>
                <a:spcPts val="1000"/>
              </a:spcAft>
              <a:defRPr sz="2000"/>
            </a:pPr>
            <a:r>
              <a:t>高效率：实现从“对话”到“行动”的自动化闭环</a:t>
            </a:r>
          </a:p>
          <a:p>
            <a:pPr>
              <a:spcAft>
                <a:spcPts val="1000"/>
              </a:spcAft>
              <a:defRPr sz="2400"/>
            </a:pPr>
            <a:r>
              <a:t>关键产出：</a:t>
            </a:r>
          </a:p>
          <a:p>
            <a:pPr lvl="1">
              <a:spcAft>
                <a:spcPts val="1000"/>
              </a:spcAft>
              <a:defRPr sz="2000"/>
            </a:pPr>
            <a:r>
              <a:t>Agent 开发工坊 (可视编排)</a:t>
            </a:r>
          </a:p>
          <a:p>
            <a:pPr lvl="1">
              <a:spcAft>
                <a:spcPts val="1000"/>
              </a:spcAft>
              <a:defRPr sz="2000"/>
            </a:pPr>
            <a:r>
              <a:t>工具连接网关 (MCP Gateway)</a:t>
            </a:r>
          </a:p>
          <a:p>
            <a:pPr lvl="1">
              <a:spcAft>
                <a:spcPts val="1000"/>
              </a:spcAft>
              <a:defRPr sz="2000"/>
            </a:pPr>
            <a:r>
              <a:t>知识中台 (Knowledge Hub)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现状与痛点 (Why Now?)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/>
            </a:pPr>
            <a:r>
              <a:t>行业趋势：大模型从 Chat (闲聊) 进化为 Agent (行动)</a:t>
            </a:r>
          </a:p>
          <a:p>
            <a:pPr>
              <a:spcAft>
                <a:spcPts val="1000"/>
              </a:spcAft>
              <a:defRPr sz="2400"/>
            </a:pPr>
            <a:r>
              <a:t>当前企业痛点：</a:t>
            </a:r>
          </a:p>
          <a:p>
            <a:pPr lvl="1">
              <a:spcAft>
                <a:spcPts val="1000"/>
              </a:spcAft>
              <a:defRPr sz="2000"/>
            </a:pPr>
            <a:r>
              <a:t>能力割裂：文档知识与业务系统无法互通</a:t>
            </a:r>
          </a:p>
          <a:p>
            <a:pPr lvl="2">
              <a:spcAft>
                <a:spcPts val="1000"/>
              </a:spcAft>
              <a:defRPr sz="1600"/>
            </a:pPr>
            <a:r>
              <a:t>  (例：LLM 无法理解 C++ 处理的油气数据)</a:t>
            </a:r>
          </a:p>
          <a:p>
            <a:pPr lvl="1">
              <a:spcAft>
                <a:spcPts val="1000"/>
              </a:spcAft>
              <a:defRPr sz="2000"/>
            </a:pPr>
            <a:r>
              <a:t>僵化：传统 RPA 无法处理模糊指令</a:t>
            </a:r>
          </a:p>
          <a:p>
            <a:pPr lvl="2">
              <a:spcAft>
                <a:spcPts val="1000"/>
              </a:spcAft>
              <a:defRPr sz="1600"/>
            </a:pPr>
            <a:r>
              <a:t>  (例：“分析这份报告，如果没有结论则忽略”)</a:t>
            </a:r>
          </a:p>
          <a:p>
            <a:pPr lvl="1">
              <a:spcAft>
                <a:spcPts val="1000"/>
              </a:spcAft>
              <a:defRPr sz="2000"/>
            </a:pPr>
            <a:r>
              <a:t>管控缺失：缺乏统一的安全审计与权限管理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平台总体架构 (High-Level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spcAft>
                <a:spcPts val="1000"/>
              </a:spcAft>
              <a:defRPr sz="2400"/>
            </a:pPr>
            <a:r>
              <a:rPr dirty="0" err="1"/>
              <a:t>应用层</a:t>
            </a:r>
            <a:r>
              <a:rPr dirty="0"/>
              <a:t>：</a:t>
            </a:r>
          </a:p>
          <a:p>
            <a:pPr lvl="1">
              <a:spcAft>
                <a:spcPts val="1000"/>
              </a:spcAft>
              <a:defRPr sz="2000"/>
            </a:pPr>
            <a:r>
              <a:rPr dirty="0" err="1"/>
              <a:t>智能客服、自动化办公、专业数据分析助手</a:t>
            </a:r>
            <a:endParaRPr dirty="0"/>
          </a:p>
          <a:p>
            <a:pPr>
              <a:spcAft>
                <a:spcPts val="1000"/>
              </a:spcAft>
              <a:defRPr sz="2400"/>
            </a:pPr>
            <a:r>
              <a:rPr dirty="0" err="1"/>
              <a:t>功能层</a:t>
            </a:r>
            <a:r>
              <a:rPr dirty="0"/>
              <a:t>：</a:t>
            </a:r>
          </a:p>
          <a:p>
            <a:pPr lvl="1">
              <a:spcAft>
                <a:spcPts val="1000"/>
              </a:spcAft>
              <a:defRPr sz="2000"/>
            </a:pPr>
            <a:r>
              <a:rPr dirty="0"/>
              <a:t>Agent </a:t>
            </a:r>
            <a:r>
              <a:rPr dirty="0" err="1"/>
              <a:t>开发工坊、应用市场、管理后台</a:t>
            </a:r>
            <a:endParaRPr dirty="0"/>
          </a:p>
          <a:p>
            <a:pPr>
              <a:spcAft>
                <a:spcPts val="1000"/>
              </a:spcAft>
              <a:defRPr sz="2400"/>
            </a:pPr>
            <a:r>
              <a:rPr dirty="0" err="1"/>
              <a:t>引擎层</a:t>
            </a:r>
            <a:r>
              <a:rPr dirty="0"/>
              <a:t> (</a:t>
            </a:r>
            <a:r>
              <a:rPr dirty="0" err="1"/>
              <a:t>核心</a:t>
            </a:r>
            <a:r>
              <a:rPr dirty="0"/>
              <a:t>)：</a:t>
            </a:r>
          </a:p>
          <a:p>
            <a:pPr lvl="1">
              <a:spcAft>
                <a:spcPts val="1000"/>
              </a:spcAft>
              <a:defRPr sz="2000"/>
            </a:pPr>
            <a:r>
              <a:rPr dirty="0" err="1"/>
              <a:t>编排引擎：任务规划与拆解</a:t>
            </a:r>
            <a:r>
              <a:rPr dirty="0"/>
              <a:t> (</a:t>
            </a:r>
            <a:r>
              <a:rPr dirty="0" err="1"/>
              <a:t>ReAct</a:t>
            </a:r>
            <a:r>
              <a:rPr dirty="0"/>
              <a:t>)</a:t>
            </a:r>
          </a:p>
          <a:p>
            <a:pPr lvl="1">
              <a:spcAft>
                <a:spcPts val="1000"/>
              </a:spcAft>
              <a:defRPr sz="2000"/>
            </a:pPr>
            <a:r>
              <a:rPr dirty="0" err="1"/>
              <a:t>记忆系统：长短期记忆</a:t>
            </a:r>
            <a:r>
              <a:rPr dirty="0"/>
              <a:t> (Vector DB)</a:t>
            </a:r>
          </a:p>
          <a:p>
            <a:pPr lvl="1">
              <a:spcAft>
                <a:spcPts val="1000"/>
              </a:spcAft>
              <a:defRPr sz="2000"/>
            </a:pPr>
            <a:r>
              <a:rPr dirty="0" err="1"/>
              <a:t>工具网关：MCP</a:t>
            </a:r>
            <a:r>
              <a:rPr dirty="0"/>
              <a:t> </a:t>
            </a:r>
            <a:r>
              <a:rPr dirty="0" err="1"/>
              <a:t>标准连接器</a:t>
            </a:r>
            <a:endParaRPr dirty="0"/>
          </a:p>
          <a:p>
            <a:pPr>
              <a:spcAft>
                <a:spcPts val="1000"/>
              </a:spcAft>
              <a:defRPr sz="2400"/>
            </a:pPr>
            <a:r>
              <a:rPr dirty="0"/>
              <a:t>模型层：GPT-4 / Claude / </a:t>
            </a:r>
            <a:r>
              <a:rPr dirty="0" err="1"/>
              <a:t>DeepSeek</a:t>
            </a:r>
            <a:r>
              <a:rPr dirty="0"/>
              <a:t> (</a:t>
            </a:r>
            <a:r>
              <a:rPr dirty="0" err="1"/>
              <a:t>私有化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核心引擎亮点：通用工具网关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/>
            </a:pPr>
            <a:r>
              <a:t>痛点解决：如何让 AI 调用本地复杂的 Python/C++ 业务代码？</a:t>
            </a:r>
          </a:p>
          <a:p>
            <a:pPr>
              <a:spcAft>
                <a:spcPts val="1000"/>
              </a:spcAft>
              <a:defRPr sz="2400"/>
            </a:pPr>
            <a:r>
              <a:t>技术方案：基于 MCP (Model Context Protocol) 协议</a:t>
            </a:r>
          </a:p>
          <a:p>
            <a:pPr>
              <a:spcAft>
                <a:spcPts val="1000"/>
              </a:spcAft>
              <a:defRPr sz="2400"/>
            </a:pPr>
            <a:r>
              <a:t>案例演示：</a:t>
            </a:r>
          </a:p>
          <a:p>
            <a:pPr lvl="1">
              <a:spcAft>
                <a:spcPts val="1000"/>
              </a:spcAft>
              <a:defRPr sz="2000"/>
            </a:pPr>
            <a:r>
              <a:t>AI 智能体 -&gt; 编排引擎</a:t>
            </a:r>
          </a:p>
          <a:p>
            <a:pPr lvl="1">
              <a:spcAft>
                <a:spcPts val="1000"/>
              </a:spcAft>
              <a:defRPr sz="2000"/>
            </a:pPr>
            <a:r>
              <a:t>-&gt; 直接调度 backend.py (Python)</a:t>
            </a:r>
          </a:p>
          <a:p>
            <a:pPr lvl="1">
              <a:spcAft>
                <a:spcPts val="1000"/>
              </a:spcAft>
              <a:defRPr sz="2000"/>
            </a:pPr>
            <a:r>
              <a:t>-&gt; 调用 ExportPetroFileV32.exe (遗留 C++ 模块)</a:t>
            </a:r>
          </a:p>
          <a:p>
            <a:pPr>
              <a:spcAft>
                <a:spcPts val="1000"/>
              </a:spcAft>
              <a:defRPr sz="2400"/>
            </a:pPr>
            <a:r>
              <a:t>优势：解耦大模型与底层业务逻辑，支持异构语言环境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知识中台：RAG 检索增强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/>
            </a:pPr>
            <a:r>
              <a:rPr dirty="0" err="1"/>
              <a:t>功能：让模型拥有企业私有知识</a:t>
            </a:r>
            <a:endParaRPr dirty="0"/>
          </a:p>
          <a:p>
            <a:pPr>
              <a:spcAft>
                <a:spcPts val="1000"/>
              </a:spcAft>
              <a:defRPr sz="2400"/>
            </a:pPr>
            <a:r>
              <a:rPr dirty="0" err="1"/>
              <a:t>流程：文档上传</a:t>
            </a:r>
            <a:r>
              <a:rPr dirty="0"/>
              <a:t> -&gt; </a:t>
            </a:r>
            <a:r>
              <a:rPr dirty="0" err="1"/>
              <a:t>自动切片</a:t>
            </a:r>
            <a:r>
              <a:rPr dirty="0"/>
              <a:t> -&gt; </a:t>
            </a:r>
            <a:r>
              <a:rPr dirty="0" err="1"/>
              <a:t>向量化存储</a:t>
            </a:r>
            <a:r>
              <a:rPr dirty="0"/>
              <a:t> -&gt; </a:t>
            </a:r>
            <a:r>
              <a:rPr dirty="0" err="1"/>
              <a:t>语义检索</a:t>
            </a:r>
            <a:r>
              <a:rPr dirty="0"/>
              <a:t> -&gt; </a:t>
            </a:r>
            <a:r>
              <a:rPr dirty="0" err="1"/>
              <a:t>回答生成</a:t>
            </a:r>
            <a:endParaRPr dirty="0"/>
          </a:p>
          <a:p>
            <a:pPr>
              <a:spcAft>
                <a:spcPts val="1000"/>
              </a:spcAft>
              <a:defRPr sz="2400"/>
            </a:pPr>
            <a:r>
              <a:rPr dirty="0" err="1"/>
              <a:t>特色能力</a:t>
            </a:r>
            <a:r>
              <a:rPr dirty="0"/>
              <a:t>：</a:t>
            </a:r>
          </a:p>
          <a:p>
            <a:pPr lvl="1">
              <a:spcAft>
                <a:spcPts val="1000"/>
              </a:spcAft>
              <a:defRPr sz="2000"/>
            </a:pPr>
            <a:r>
              <a:rPr dirty="0" err="1"/>
              <a:t>支持多格式解析</a:t>
            </a:r>
            <a:r>
              <a:rPr dirty="0"/>
              <a:t> (PDF, MD, Word, </a:t>
            </a:r>
            <a:r>
              <a:rPr dirty="0" err="1"/>
              <a:t>代码</a:t>
            </a:r>
            <a:r>
              <a:rPr dirty="0"/>
              <a:t>)</a:t>
            </a:r>
          </a:p>
          <a:p>
            <a:pPr lvl="1">
              <a:spcAft>
                <a:spcPts val="1000"/>
              </a:spcAft>
              <a:defRPr sz="2000"/>
            </a:pPr>
            <a:r>
              <a:rPr dirty="0" err="1"/>
              <a:t>源头溯源：回答中包含原文引用链接，确保可信度</a:t>
            </a:r>
            <a:endParaRPr dirty="0"/>
          </a:p>
          <a:p>
            <a:pPr lvl="1">
              <a:spcAft>
                <a:spcPts val="1000"/>
              </a:spcAft>
              <a:defRPr sz="2000"/>
            </a:pPr>
            <a:r>
              <a:rPr dirty="0" err="1"/>
              <a:t>知识应用：如“基于技术文档自动生成</a:t>
            </a:r>
            <a:r>
              <a:rPr dirty="0"/>
              <a:t> PPT”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技术栈选型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/>
            </a:pPr>
            <a:r>
              <a:t>后端：Python (FastAPI) + LangChain / LangGraph</a:t>
            </a:r>
          </a:p>
          <a:p>
            <a:pPr>
              <a:spcAft>
                <a:spcPts val="1000"/>
              </a:spcAft>
              <a:defRPr sz="2400"/>
            </a:pPr>
            <a:r>
              <a:t>前端：React + 流程编排组件</a:t>
            </a:r>
          </a:p>
          <a:p>
            <a:pPr>
              <a:spcAft>
                <a:spcPts val="1000"/>
              </a:spcAft>
              <a:defRPr sz="2400"/>
            </a:pPr>
            <a:r>
              <a:t>向量数据库：PGVector (推荐) 或 Milvus</a:t>
            </a:r>
          </a:p>
          <a:p>
            <a:pPr>
              <a:spcAft>
                <a:spcPts val="1000"/>
              </a:spcAft>
              <a:defRPr sz="2400"/>
            </a:pPr>
            <a:r>
              <a:t>核心协议：</a:t>
            </a:r>
          </a:p>
          <a:p>
            <a:pPr lvl="1">
              <a:spcAft>
                <a:spcPts val="1000"/>
              </a:spcAft>
              <a:defRPr sz="2000"/>
            </a:pPr>
            <a:r>
              <a:t>全面适配 MCP (Model Context Protocol)</a:t>
            </a:r>
          </a:p>
          <a:p>
            <a:pPr lvl="1">
              <a:spcAft>
                <a:spcPts val="1000"/>
              </a:spcAft>
              <a:defRPr sz="2000"/>
            </a:pPr>
            <a:r>
              <a:t>确保工具生态兼容性，方便未来扩展</a:t>
            </a:r>
          </a:p>
          <a:p>
            <a:pPr>
              <a:spcAft>
                <a:spcPts val="1000"/>
              </a:spcAft>
              <a:defRPr sz="2400"/>
            </a:pPr>
            <a:r>
              <a:t>部署架构：Docker 容器化 + K8s 集群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基础设施配置 (Resource Requirements)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/>
            </a:pPr>
            <a:r>
              <a:t>方案 A：混合云/API 模式 (推荐 - 高性价比)</a:t>
            </a:r>
          </a:p>
          <a:p>
            <a:pPr lvl="1">
              <a:spcAft>
                <a:spcPts val="1000"/>
              </a:spcAft>
              <a:defRPr sz="2000"/>
            </a:pPr>
            <a:r>
              <a:t>应用服务器 (2台)：运行 Agent 逻辑、MCP Server</a:t>
            </a:r>
          </a:p>
          <a:p>
            <a:pPr lvl="1">
              <a:spcAft>
                <a:spcPts val="1000"/>
              </a:spcAft>
              <a:defRPr sz="2000"/>
            </a:pPr>
            <a:r>
              <a:t>向量库服务器 (1台)：大内存，存储企业知识库</a:t>
            </a:r>
          </a:p>
          <a:p>
            <a:pPr lvl="1">
              <a:spcAft>
                <a:spcPts val="1000"/>
              </a:spcAft>
              <a:defRPr sz="2000"/>
            </a:pPr>
            <a:r>
              <a:t>遗留系统节点 (1台 Windows)：运行旧版 C++ 工具</a:t>
            </a:r>
          </a:p>
          <a:p>
            <a:pPr>
              <a:spcAft>
                <a:spcPts val="1000"/>
              </a:spcAft>
              <a:defRPr sz="2400"/>
            </a:pPr>
            <a:r>
              <a:t>方案 B：私有化部署 (数据严控)</a:t>
            </a:r>
          </a:p>
          <a:p>
            <a:pPr lvl="1">
              <a:spcAft>
                <a:spcPts val="1000"/>
              </a:spcAft>
              <a:defRPr sz="2000"/>
            </a:pPr>
            <a:r>
              <a:t>LLM 推理集群：需配备 NVIDIA A100/H800 或 RTX 4090 集群</a:t>
            </a:r>
          </a:p>
          <a:p>
            <a:pPr lvl="1">
              <a:spcAft>
                <a:spcPts val="1000"/>
              </a:spcAft>
              <a:defRPr sz="2000"/>
            </a:pPr>
            <a:r>
              <a:t>显存需求：支持 70B+ 参数模型 (如 DeepSeek-70B)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成本构成与预算 (Budget Breakdown)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/>
            </a:pPr>
            <a:r>
              <a:t>一次性投入 (CAPEX)：</a:t>
            </a:r>
          </a:p>
          <a:p>
            <a:pPr lvl="1">
              <a:spcAft>
                <a:spcPts val="1000"/>
              </a:spcAft>
              <a:defRPr sz="2000"/>
            </a:pPr>
            <a:r>
              <a:t>硬件：服务器与 GPU 采购费用</a:t>
            </a:r>
          </a:p>
          <a:p>
            <a:pPr lvl="1">
              <a:spcAft>
                <a:spcPts val="1000"/>
              </a:spcAft>
              <a:defRPr sz="2000"/>
            </a:pPr>
            <a:r>
              <a:t>软件：OS、数据库授权、数据清洗人力</a:t>
            </a:r>
          </a:p>
          <a:p>
            <a:pPr lvl="1">
              <a:spcAft>
                <a:spcPts val="1000"/>
              </a:spcAft>
              <a:defRPr sz="2000"/>
            </a:pPr>
            <a:r>
              <a:t>研发人力：架构师、前后端、Prompt 工程师</a:t>
            </a:r>
          </a:p>
          <a:p>
            <a:pPr>
              <a:spcAft>
                <a:spcPts val="1000"/>
              </a:spcAft>
              <a:defRPr sz="2400"/>
            </a:pPr>
            <a:r>
              <a:t>持续运营 (OPEX)：</a:t>
            </a:r>
          </a:p>
          <a:p>
            <a:pPr lvl="1">
              <a:spcAft>
                <a:spcPts val="1000"/>
              </a:spcAft>
              <a:defRPr sz="2000"/>
            </a:pPr>
            <a:r>
              <a:t>Token 费用：公有云 API 调用费 (按量)</a:t>
            </a:r>
          </a:p>
          <a:p>
            <a:pPr lvl="1">
              <a:spcAft>
                <a:spcPts val="1000"/>
              </a:spcAft>
              <a:defRPr sz="2000"/>
            </a:pPr>
            <a:r>
              <a:t>能耗与维保：私有化机房电费、系统运维</a:t>
            </a:r>
          </a:p>
          <a:p>
            <a:pPr lvl="1">
              <a:spcAft>
                <a:spcPts val="1000"/>
              </a:spcAft>
              <a:defRPr sz="2000"/>
            </a:pPr>
            <a:r>
              <a:t>持续迭代：Agent 技能更新、知识库维护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 (Project 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/>
            </a:pPr>
            <a:r>
              <a:t>阶段一：MVP 原型 (1-2个月)</a:t>
            </a:r>
          </a:p>
          <a:p>
            <a:pPr lvl="1">
              <a:spcAft>
                <a:spcPts val="1000"/>
              </a:spcAft>
              <a:defRPr sz="2000"/>
            </a:pPr>
            <a:r>
              <a:t>核心对话界面上线</a:t>
            </a:r>
          </a:p>
          <a:p>
            <a:pPr lvl="1">
              <a:spcAft>
                <a:spcPts val="1000"/>
              </a:spcAft>
              <a:defRPr sz="2000"/>
            </a:pPr>
            <a:r>
              <a:t>跑通 C++/Python 混合调用流程 (Benchmark)</a:t>
            </a:r>
          </a:p>
          <a:p>
            <a:pPr lvl="1">
              <a:spcAft>
                <a:spcPts val="1000"/>
              </a:spcAft>
              <a:defRPr sz="2000"/>
            </a:pPr>
            <a:r>
              <a:t>基础 RAG 问答功能</a:t>
            </a:r>
          </a:p>
          <a:p>
            <a:pPr>
              <a:spcAft>
                <a:spcPts val="1000"/>
              </a:spcAft>
              <a:defRPr sz="2400"/>
            </a:pPr>
            <a:r>
              <a:t>阶段二：平台化 (3-4个月)</a:t>
            </a:r>
          </a:p>
          <a:p>
            <a:pPr lvl="1">
              <a:spcAft>
                <a:spcPts val="1000"/>
              </a:spcAft>
              <a:defRPr sz="2000"/>
            </a:pPr>
            <a:r>
              <a:t>可视化 Agent 编排界面</a:t>
            </a:r>
          </a:p>
          <a:p>
            <a:pPr lvl="1">
              <a:spcAft>
                <a:spcPts val="1000"/>
              </a:spcAft>
              <a:defRPr sz="2000"/>
            </a:pPr>
            <a:r>
              <a:t>多用户权限体系</a:t>
            </a:r>
          </a:p>
          <a:p>
            <a:pPr>
              <a:spcAft>
                <a:spcPts val="1000"/>
              </a:spcAft>
              <a:defRPr sz="2400"/>
            </a:pPr>
            <a:r>
              <a:t>阶段三：生态化 (6个月+)</a:t>
            </a:r>
          </a:p>
          <a:p>
            <a:pPr lvl="1">
              <a:spcAft>
                <a:spcPts val="1000"/>
              </a:spcAft>
              <a:defRPr sz="2000"/>
            </a:pPr>
            <a:r>
              <a:t>开放 API，构建内部 Agent 技能市场</a:t>
            </a:r>
          </a:p>
          <a:p>
            <a:pPr lvl="1">
              <a:spcAft>
                <a:spcPts val="1000"/>
              </a:spcAft>
              <a:defRPr sz="2000"/>
            </a:pPr>
            <a:r>
              <a:t>整合第三方 ERP/CRM 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预期收益</a:t>
            </a:r>
            <a:r>
              <a:rPr dirty="0"/>
              <a:t> (ROI)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400"/>
            </a:pPr>
            <a:r>
              <a:rPr dirty="0" err="1"/>
              <a:t>效率提升</a:t>
            </a:r>
            <a:r>
              <a:rPr dirty="0"/>
              <a:t>：</a:t>
            </a:r>
          </a:p>
          <a:p>
            <a:pPr lvl="1">
              <a:spcAft>
                <a:spcPts val="1000"/>
              </a:spcAft>
              <a:defRPr sz="2000"/>
            </a:pPr>
            <a:r>
              <a:rPr dirty="0" err="1"/>
              <a:t>复杂数据处理流程从“小时级”缩短至“分钟级</a:t>
            </a:r>
            <a:r>
              <a:rPr dirty="0"/>
              <a:t>”</a:t>
            </a:r>
            <a:endParaRPr lang="zh-CN" altLang="en-US" dirty="0"/>
          </a:p>
          <a:p>
            <a:pPr lvl="1">
              <a:spcAft>
                <a:spcPts val="1000"/>
              </a:spcAft>
              <a:defRPr sz="2000"/>
            </a:pPr>
            <a:r>
              <a:rPr dirty="0" err="1"/>
              <a:t>将散落在员工电脑里的文档变为可检索的企业资产</a:t>
            </a:r>
            <a:endParaRPr dirty="0"/>
          </a:p>
          <a:p>
            <a:pPr lvl="1">
              <a:spcAft>
                <a:spcPts val="1000"/>
              </a:spcAft>
              <a:defRPr sz="2000"/>
            </a:pPr>
            <a:r>
              <a:t>快速生成各类分析报告</a:t>
            </a:r>
            <a:r>
              <a:rPr dirty="0" err="1"/>
              <a:t>、PPT，支持复杂决策辅助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让 AI 成为企业的核心生产力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 &amp; A</a:t>
            </a:r>
          </a:p>
          <a:p>
            <a:endParaRPr/>
          </a:p>
          <a:p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516</Words>
  <Application>Microsoft Office PowerPoint</Application>
  <PresentationFormat>全屏显示(4:3)</PresentationFormat>
  <Paragraphs>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企业级 AI Agent 智能体 平台建设方案</vt:lpstr>
      <vt:lpstr>核心愿景 (Executive Summary)</vt:lpstr>
      <vt:lpstr>现状与痛点 (Why Now?)</vt:lpstr>
      <vt:lpstr>平台总体架构 (High-Level Architecture)</vt:lpstr>
      <vt:lpstr>核心引擎亮点：通用工具网关</vt:lpstr>
      <vt:lpstr>知识中台：RAG 检索增强</vt:lpstr>
      <vt:lpstr>技术栈选型 (Tech Stack)</vt:lpstr>
      <vt:lpstr>基础设施配置 (Resource Requirements)</vt:lpstr>
      <vt:lpstr>成本构成与预算 (Budget Breakdown)</vt:lpstr>
      <vt:lpstr>实施路线图 (Project Roadmap)</vt:lpstr>
      <vt:lpstr>预期收益 (ROI)</vt:lpstr>
      <vt:lpstr>让 AI 成为企业的核心生产力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 AI Agent 智能体 平台建设方案</dc:title>
  <dc:subject/>
  <dc:creator/>
  <cp:keywords/>
  <dc:description>generated using python-pptx</dc:description>
  <cp:lastModifiedBy>James King</cp:lastModifiedBy>
  <cp:revision>6</cp:revision>
  <dcterms:created xsi:type="dcterms:W3CDTF">2013-01-27T09:14:16Z</dcterms:created>
  <dcterms:modified xsi:type="dcterms:W3CDTF">2026-01-13T18:48:41Z</dcterms:modified>
  <cp:category/>
</cp:coreProperties>
</file>