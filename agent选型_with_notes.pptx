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80" autoAdjust="0"/>
  </p:normalViewPr>
  <p:slideViewPr>
    <p:cSldViewPr snapToGrid="0" snapToObjects="1">
      <p:cViewPr varScale="1">
        <p:scale>
          <a:sx n="50" d="100"/>
          <a:sy n="50" d="100"/>
        </p:scale>
        <p:origin x="48" y="1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28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讲者备注｜企业级</a:t>
            </a:r>
            <a:r>
              <a:rPr dirty="0"/>
              <a:t> AI Agent </a:t>
            </a:r>
            <a:r>
              <a:rPr dirty="0" err="1"/>
              <a:t>智能体平台建设方案</a:t>
            </a:r>
            <a:r>
              <a:rPr dirty="0"/>
              <a:t>】</a:t>
            </a:r>
          </a:p>
          <a:p>
            <a:r>
              <a:rPr dirty="0" err="1"/>
              <a:t>讲解目标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让听众理解：构建“数字员工”生产力引擎，驱动业务智能化转型</a:t>
            </a:r>
            <a:r>
              <a:rPr dirty="0"/>
              <a:t> </a:t>
            </a:r>
            <a:r>
              <a:rPr dirty="0" err="1"/>
              <a:t>汇报人</a:t>
            </a:r>
            <a:r>
              <a:rPr dirty="0"/>
              <a:t>：[</a:t>
            </a:r>
            <a:r>
              <a:rPr dirty="0" err="1"/>
              <a:t>您的名字</a:t>
            </a:r>
            <a:r>
              <a:rPr dirty="0"/>
              <a:t>/</a:t>
            </a:r>
            <a:r>
              <a:rPr dirty="0" err="1"/>
              <a:t>团队名称</a:t>
            </a:r>
            <a:r>
              <a:rPr dirty="0"/>
              <a:t>] 日期：2026年1月</a:t>
            </a:r>
          </a:p>
          <a:p>
            <a:r>
              <a:rPr dirty="0" err="1"/>
              <a:t>讲解要点（可照读</a:t>
            </a:r>
            <a:r>
              <a:rPr dirty="0"/>
              <a:t>/</a:t>
            </a:r>
            <a:r>
              <a:rPr dirty="0" err="1"/>
              <a:t>略作改写</a:t>
            </a:r>
            <a:r>
              <a:rPr dirty="0"/>
              <a:t>）：</a:t>
            </a:r>
          </a:p>
          <a:p>
            <a:r>
              <a:rPr dirty="0"/>
              <a:t>- </a:t>
            </a:r>
            <a:r>
              <a:rPr dirty="0" err="1"/>
              <a:t>构建“数字员工”生产力引擎，驱动业务智能化转型</a:t>
            </a:r>
            <a:r>
              <a:rPr dirty="0"/>
              <a:t> </a:t>
            </a:r>
            <a:r>
              <a:rPr dirty="0" err="1"/>
              <a:t>汇报人</a:t>
            </a:r>
            <a:r>
              <a:rPr dirty="0"/>
              <a:t>：[</a:t>
            </a:r>
            <a:r>
              <a:rPr dirty="0" err="1"/>
              <a:t>您的名字</a:t>
            </a:r>
            <a:r>
              <a:rPr dirty="0"/>
              <a:t>/</a:t>
            </a:r>
            <a:r>
              <a:rPr dirty="0" err="1"/>
              <a:t>团队名称</a:t>
            </a:r>
            <a:r>
              <a:rPr dirty="0"/>
              <a:t>] 日期：2026年1月</a:t>
            </a:r>
          </a:p>
          <a:p>
            <a:r>
              <a:rPr dirty="0" err="1"/>
              <a:t>过渡话术</a:t>
            </a:r>
            <a:r>
              <a:rPr dirty="0"/>
              <a:t>：</a:t>
            </a:r>
          </a:p>
          <a:p>
            <a:r>
              <a:rPr dirty="0"/>
              <a:t>- “</a:t>
            </a:r>
            <a:r>
              <a:rPr dirty="0" err="1"/>
              <a:t>讲完这一页，我们马上看下一页的具体落地方式</a:t>
            </a:r>
            <a:r>
              <a:rPr dirty="0"/>
              <a:t>/</a:t>
            </a:r>
            <a:r>
              <a:rPr dirty="0" err="1"/>
              <a:t>对比结果</a:t>
            </a:r>
            <a:r>
              <a:rPr dirty="0"/>
              <a:t>。”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【讲者备注｜核心愿景 (Executive Summary)】</a:t>
            </a:r>
          </a:p>
          <a:p>
            <a:r>
              <a:t>讲解目标：</a:t>
            </a:r>
          </a:p>
          <a:p>
            <a:r>
              <a:t>- 让听众理解：目标：打造企业统一的 AI 智能体开发与运行平台 核心价值主张： 低门槛：让业务人员也能“雇佣”数字员工 破孤岛：打通文档、数据库与遗留系统 高效率：实现从“对话”到“行动”的自动化闭环 平台关键产出： Agent 开发工坊 (可视编排) 工具连接网关 (MCP Gateway) 知识中台 (Knowledge Hub)</a:t>
            </a:r>
          </a:p>
          <a:p>
            <a:r>
              <a:t>讲解要点（可照读/略作改写）：</a:t>
            </a:r>
          </a:p>
          <a:p>
            <a:r>
              <a:t>- 目标：打造企业统一的 AI 智能体开发与运行平台 核心价值主张： 低门槛：让业务人员也能“雇佣”数字员工 破孤岛：打通文档、数据库与遗留系统 高效率：实现从“对话”到“行动”的自动化闭环 平台关键产出： Agent 开发工坊 (可视编排) 工具连接网关 (MCP Gateway) 知识中台 (Knowledge Hub)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【讲者备注｜现状与痛点 (Why Now?)】</a:t>
            </a:r>
          </a:p>
          <a:p>
            <a:r>
              <a:t>讲解目标：</a:t>
            </a:r>
          </a:p>
          <a:p>
            <a:r>
              <a:t>- 让听众理解：行业趋势：大模型从 Chat (闲聊) 进化为 Agent (行动) 当前企业痛点： 能力割裂：文档知识与业务系统无法互通 (例：LLM 无法理解 C++ 处理的油气数据) 僵化：传统 RPA 无法处理模糊指令 (例：“分析这份报告，如果没有结论则忽略”) 管控缺失：缺乏统一的安全审计与权限管理</a:t>
            </a:r>
          </a:p>
          <a:p>
            <a:r>
              <a:t>讲解要点（可照读/略作改写）：</a:t>
            </a:r>
          </a:p>
          <a:p>
            <a:r>
              <a:t>- 行业趋势：大模型从 Chat (闲聊) 进化为 Agent (行动) 当前企业痛点： 能力割裂：文档知识与业务系统无法互通 (例：LLM 无法理解 C++ 处理的油气数据) 僵化：传统 RPA 无法处理模糊指令 (例：“分析这份报告，如果没有结论则忽略”) 管控缺失：缺乏统一的安全审计与权限管理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【讲者备注｜平台总体架构 (High-Level Architecture)】</a:t>
            </a:r>
          </a:p>
          <a:p>
            <a:r>
              <a:t>讲解目标：</a:t>
            </a:r>
          </a:p>
          <a:p>
            <a:r>
              <a:t>- 让听众理解：架构设计分层： 应用层：智能客服、自动化办公、专业数据分析助手 功能层：Agent 开发工坊、应用市场、管理后台 引擎层 (Brain)：ReAct 编排 + MCP 工具网关 + 记忆系统 模型层 (MaaS)：GPT；4o / DeepSeek</a:t>
            </a:r>
          </a:p>
          <a:p>
            <a:r>
              <a:t>讲解要点（可照读/略作改写）：</a:t>
            </a:r>
          </a:p>
          <a:p>
            <a:r>
              <a:t>- 架构设计分层： 应用层：智能客服、自动化办公、专业数据分析助手 功能层：Agent 开发工坊、应用市场、管理后台 引擎层 (Brain)：ReAct 编排 + MCP 工具网关 + 记忆系统 模型层 (MaaS)：GPT</a:t>
            </a:r>
          </a:p>
          <a:p>
            <a:r>
              <a:t>- 4o / DeepSeek</a:t>
            </a:r>
          </a:p>
          <a:p>
            <a:r>
              <a:t>- 70B (混合部署)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【讲者备注｜核心引擎亮点：通用工具网关】</a:t>
            </a:r>
          </a:p>
          <a:p>
            <a:r>
              <a:t>讲解目标：</a:t>
            </a:r>
          </a:p>
          <a:p>
            <a:r>
              <a:t>- 让听众理解：痛点解决：如何让 AI 调用本地复杂的 Python/C++ 业务代码？ 技术方案：基于 MCP (Model Context Protocol) 协议 案例演示： AI 智能体；&gt; 编排引擎</a:t>
            </a:r>
          </a:p>
          <a:p>
            <a:r>
              <a:t>讲解要点（可照读/略作改写）：</a:t>
            </a:r>
          </a:p>
          <a:p>
            <a:r>
              <a:t>- 痛点解决：如何让 AI 调用本地复杂的 Python/C++ 业务代码？ 技术方案：基于 MCP (Model Context Protocol) 协议 案例演示： AI 智能体（讲顺序：背景→方案→收益→成本/风险→下一步）</a:t>
            </a:r>
          </a:p>
          <a:p>
            <a:r>
              <a:t>- &gt; 编排引擎</a:t>
            </a:r>
          </a:p>
          <a:p>
            <a:r>
              <a:t>- &gt; 直接调度 backend.py (Python)</a:t>
            </a:r>
          </a:p>
          <a:p>
            <a:r>
              <a:t>- &gt; 调用 ExportPetroFileV32.exe (遗留 C++ 模块) 优势：解耦大模型与底层业务逻辑，支持异构语言环境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【讲者备注｜知识中台：RAG 检索增强】</a:t>
            </a:r>
          </a:p>
          <a:p>
            <a:r>
              <a:t>讲解目标：</a:t>
            </a:r>
          </a:p>
          <a:p>
            <a:r>
              <a:t>- 让听众理解：功能：让模型拥有企业私有知识 流程：文档上传；&gt; 自动切片</a:t>
            </a:r>
          </a:p>
          <a:p>
            <a:r>
              <a:t>讲解要点（可照读/略作改写）：</a:t>
            </a:r>
          </a:p>
          <a:p>
            <a:r>
              <a:t>- 功能：让模型拥有企业私有知识 流程：文档上传</a:t>
            </a:r>
          </a:p>
          <a:p>
            <a:r>
              <a:t>- &gt; 自动切片</a:t>
            </a:r>
          </a:p>
          <a:p>
            <a:r>
              <a:t>- &gt; 向量化存储</a:t>
            </a:r>
          </a:p>
          <a:p>
            <a:r>
              <a:t>- &gt; 语义检索</a:t>
            </a:r>
          </a:p>
          <a:p>
            <a:r>
              <a:t>- &gt; 回答生成 特色能力： 支持多格式解析 (PDF, MD, Word, 代码) 源头溯源：回答中包含原文引用链接，确保可信度 知识应用：如“基于技术文档自动生成 PPT”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【讲者备注｜技术栈选型 (Tech Stack)】</a:t>
            </a:r>
          </a:p>
          <a:p>
            <a:r>
              <a:t>讲解目标：</a:t>
            </a:r>
          </a:p>
          <a:p>
            <a:r>
              <a:t>- 让听众理解：后端：Python (FastAPI) + LangChain / LangGraph 前端：React + 流程编排组件 向量数据库：PGVector (推荐) 或 Milvus 核心协议： 全面适配 MCP (Model Context Protocol) 确保工具生态兼容性，方便未来扩展 部署架构：Docker 容器化 + K8s 集群</a:t>
            </a:r>
          </a:p>
          <a:p>
            <a:r>
              <a:t>讲解要点（可照读/略作改写）：</a:t>
            </a:r>
          </a:p>
          <a:p>
            <a:r>
              <a:t>- 后端：Python (FastAPI) + LangChain / LangGraph 前端：React + 流程编排组件 向量数据库：PGVector (推荐) 或 Milvus 核心协议： 全面适配 MCP (Model Context Protocol) 确保工具生态兼容性，方便未来扩展 部署架构：Docker 容器化 + K8s 集群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【讲者备注｜基础设施配置 (Resource Requirements)】</a:t>
            </a:r>
          </a:p>
          <a:p>
            <a:r>
              <a:t>讲解目标：</a:t>
            </a:r>
          </a:p>
          <a:p>
            <a:r>
              <a:t>- 让听众理解：方案 A：混合云/API 模式 (推荐；高性价比) 应用服务器 (2台)：运行 Agent 逻辑、MCP Server 向量库服务器 (1台)：大内存，存储企业知识库 遗留系统节点 (1台 Windows)：运行旧版 C++ 工具 方案 B：私有化部署 (数据严控) LLM 推理集群：需配备 NVIDIA A100/H800 或 RTX 4090 集群 显存需求：支持 70B+ 参数模型 (如 DeepSeek</a:t>
            </a:r>
          </a:p>
          <a:p>
            <a:r>
              <a:t>讲解要点（可照读/略作改写）：</a:t>
            </a:r>
          </a:p>
          <a:p>
            <a:r>
              <a:t>- 方案 A：混合云/API 模式 (推荐（讲顺序：背景→方案→收益→成本/风险→下一步）</a:t>
            </a:r>
          </a:p>
          <a:p>
            <a:r>
              <a:t>- 高性价比) 应用服务器 (2台)：运行 Agent 逻辑、MCP Server 向量库服务器 (1台)：大内存，存储企业知识库 遗留系统节点 (1台 Windows)：运行旧版 C++ 工具 方案 B：私有化部署 (数据严控) LLM 推理集群：需配备 NVIDIA A100/H800 或 RTX 4090 集群 显存需求：支持 70B+ 参数模型 (如 DeepSeek（讲顺序：背景→方案→收益→成本/风险→下一步）</a:t>
            </a:r>
          </a:p>
          <a:p>
            <a:r>
              <a:t>- 70B)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【讲者备注｜成本构成与预算 (Budget Breakdown)】</a:t>
            </a:r>
          </a:p>
          <a:p>
            <a:r>
              <a:t>讲解目标：</a:t>
            </a:r>
          </a:p>
          <a:p>
            <a:r>
              <a:t>- 让听众理解：一次性投入 (CAPEX)： 硬件：服务器与 GPU 采购费用 软件：OS、数据库授权、数据清洗人力 研发人力：架构师、前后端、Prompt 工程师 持续运营 (OPEX)： Token 费用：公有云 API 调用费 (按量) 能耗与维保：私有化机房电费、系统运维 持续迭代：Agent 技能更新、知识库维护</a:t>
            </a:r>
          </a:p>
          <a:p>
            <a:r>
              <a:t>讲解要点（可照读/略作改写）：</a:t>
            </a:r>
          </a:p>
          <a:p>
            <a:r>
              <a:t>- 一次性投入 (CAPEX)： 硬件：服务器与 GPU 采购费用 软件：OS、数据库授权、数据清洗人力 研发人力：架构师、前后端、Prompt 工程师 持续运营 (OPEX)： Token 费用：公有云 API 调用费 (按量) 能耗与维保：私有化机房电费、系统运维 持续迭代：Agent 技能更新、知识库维护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【讲者备注｜实施路线图 (Project Roadmap)】</a:t>
            </a:r>
          </a:p>
          <a:p>
            <a:r>
              <a:t>讲解目标：</a:t>
            </a:r>
          </a:p>
          <a:p>
            <a:r>
              <a:t>- 让听众理解：阶段一：MVP 原型 (1；2个月) 核心对话界面上线 跑通 C++/Python 混合调用流程 (Benchmark) 基础 RAG 问答功能 阶段二：平台化 (3</a:t>
            </a:r>
          </a:p>
          <a:p>
            <a:r>
              <a:t>讲解要点（可照读/略作改写）：</a:t>
            </a:r>
          </a:p>
          <a:p>
            <a:r>
              <a:t>- 阶段一：MVP 原型 (1</a:t>
            </a:r>
          </a:p>
          <a:p>
            <a:r>
              <a:t>- 2个月) 核心对话界面上线 跑通 C++/Python 混合调用流程 (Benchmark) 基础 RAG 问答功能 阶段二：平台化 (3</a:t>
            </a:r>
          </a:p>
          <a:p>
            <a:r>
              <a:t>- 4个月) 可视化 Agent 编排界面 多用户权限体系 阶段三：生态化 (6个月+) 开放 API，构建内部 Agent 技能市场 整合第三方 ERP/CRM 系统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【讲者备注｜预期收益 (ROI)】</a:t>
            </a:r>
          </a:p>
          <a:p>
            <a:r>
              <a:t>讲解目标：</a:t>
            </a:r>
          </a:p>
          <a:p>
            <a:r>
              <a:t>- 让听众理解：效率提升： 复杂数据处理流程从“小时级”缩短至“分钟级” 知识沉淀： 将散落在员工电脑里的文档变为可检索的企业资产 业务创新： 快速生成各类分析报告、PPT，支持复杂决策辅助</a:t>
            </a:r>
          </a:p>
          <a:p>
            <a:r>
              <a:t>讲解要点（可照读/略作改写）：</a:t>
            </a:r>
          </a:p>
          <a:p>
            <a:r>
              <a:t>- 效率提升： 复杂数据处理流程从“小时级”缩短至“分钟级” 知识沉淀： 将散落在员工电脑里的文档变为可检索的企业资产 业务创新： 快速生成各类分析报告、PPT，支持复杂决策辅助</a:t>
            </a:r>
          </a:p>
          <a:p>
            <a:r>
              <a:t>过渡话术：</a:t>
            </a:r>
          </a:p>
          <a:p>
            <a:r>
              <a:t>- “讲完这一页，我们马上看下一页的具体落地方式/对比结果。”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讲者备注｜让</a:t>
            </a:r>
            <a:r>
              <a:rPr dirty="0"/>
              <a:t> AI </a:t>
            </a:r>
            <a:r>
              <a:rPr dirty="0" err="1"/>
              <a:t>成为企业的核心生产力</a:t>
            </a:r>
            <a:r>
              <a:rPr dirty="0"/>
              <a:t>】</a:t>
            </a:r>
          </a:p>
          <a:p>
            <a:r>
              <a:rPr dirty="0" err="1"/>
              <a:t>讲解目标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让听众理解：Q</a:t>
            </a:r>
            <a:r>
              <a:rPr dirty="0"/>
              <a:t> &amp; A </a:t>
            </a:r>
            <a:r>
              <a:rPr dirty="0" err="1"/>
              <a:t>感谢聆听</a:t>
            </a:r>
            <a:endParaRPr dirty="0"/>
          </a:p>
          <a:p>
            <a:r>
              <a:rPr dirty="0" err="1"/>
              <a:t>讲解要点（可照读</a:t>
            </a:r>
            <a:r>
              <a:rPr dirty="0"/>
              <a:t>/</a:t>
            </a:r>
            <a:r>
              <a:rPr dirty="0" err="1"/>
              <a:t>略作改写</a:t>
            </a:r>
            <a:r>
              <a:rPr dirty="0"/>
              <a:t>）：</a:t>
            </a:r>
          </a:p>
          <a:p>
            <a:r>
              <a:rPr dirty="0"/>
              <a:t>- Q &amp; A </a:t>
            </a:r>
            <a:r>
              <a:t>感谢聆听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4952" cy="3044952"/>
          </a:xfrm>
          <a:prstGeom prst="rtTriangl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3657600" cy="18288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企业级</a:t>
            </a:r>
            <a:r>
              <a:rPr dirty="0"/>
              <a:t> AI Agent </a:t>
            </a:r>
            <a:r>
              <a:rPr dirty="0" err="1"/>
              <a:t>智能体平台建设方案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构建“数字员工”生产力引擎，驱动业务智能化转型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汇报人：[您的名字/团队名称]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日期：2026年1月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核心愿景 (Executive Summary)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目标：打造企业统一的</a:t>
            </a:r>
            <a:r>
              <a:rPr sz="2400" dirty="0"/>
              <a:t> AI </a:t>
            </a:r>
            <a:r>
              <a:rPr sz="2400" dirty="0" err="1"/>
              <a:t>智能体开发与运行平台</a:t>
            </a:r>
            <a:endParaRPr sz="24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核心价值主张</a:t>
            </a:r>
            <a:r>
              <a:rPr sz="2400"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低门槛：让业务人员也能“雇佣”数字员工</a:t>
            </a:r>
            <a:endParaRPr sz="20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破孤岛：打通文档、数据库与遗留系统</a:t>
            </a:r>
            <a:endParaRPr sz="20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高效率：实现从“对话”到“行动”的自动化闭环</a:t>
            </a:r>
            <a:endParaRPr sz="20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平台关键产出</a:t>
            </a:r>
            <a:r>
              <a:rPr sz="2400"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/>
              <a:t>Agent </a:t>
            </a:r>
            <a:r>
              <a:rPr sz="2000" dirty="0" err="1"/>
              <a:t>开发工坊</a:t>
            </a:r>
            <a:r>
              <a:rPr sz="2000" dirty="0"/>
              <a:t> (</a:t>
            </a:r>
            <a:r>
              <a:rPr sz="2000" dirty="0" err="1"/>
              <a:t>可视编排</a:t>
            </a:r>
            <a:r>
              <a:rPr sz="2000"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工具连接网关</a:t>
            </a:r>
            <a:r>
              <a:rPr sz="2000" dirty="0"/>
              <a:t> (MCP Gateway)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知识中台</a:t>
            </a:r>
            <a:r>
              <a:rPr sz="2000" dirty="0"/>
              <a:t> (Knowledge Hub)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现状与痛点 (Why Now?)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行业趋势：大模型从 Chat (闲聊) 进化为 Agent (行动)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当前企业痛点：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能力割裂：文档知识与业务系统无法互通</a:t>
            </a:r>
          </a:p>
          <a:p>
            <a:pPr lvl="2"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 (例：LLM 无法理解 C++ 处理的油气数据)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僵化：传统 RPA 无法处理模糊指令</a:t>
            </a:r>
          </a:p>
          <a:p>
            <a:pPr lvl="2"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 (例：“分析这份报告，如果没有结论则忽略”)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管控缺失：缺乏统一的安全审计与权限管理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平台总体架构 (High-Level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88136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21"/>
            <a:ext cx="105156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架构设计分层</a:t>
            </a:r>
            <a:r>
              <a:rPr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应用层：智能客服、自动化办公、专业数据分析助手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功能层：Agent</a:t>
            </a:r>
            <a:r>
              <a:rPr dirty="0"/>
              <a:t> </a:t>
            </a:r>
            <a:r>
              <a:rPr dirty="0" err="1"/>
              <a:t>开发工坊、应用市场、管理后台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引擎层</a:t>
            </a:r>
            <a:r>
              <a:rPr dirty="0"/>
              <a:t> (Brain)：</a:t>
            </a:r>
            <a:r>
              <a:rPr dirty="0" err="1"/>
              <a:t>ReAct</a:t>
            </a:r>
            <a:r>
              <a:rPr dirty="0"/>
              <a:t> </a:t>
            </a:r>
            <a:r>
              <a:rPr dirty="0" err="1"/>
              <a:t>编排</a:t>
            </a:r>
            <a:r>
              <a:rPr dirty="0"/>
              <a:t> + MCP </a:t>
            </a:r>
            <a:r>
              <a:rPr dirty="0" err="1"/>
              <a:t>工具网关</a:t>
            </a:r>
            <a:r>
              <a:rPr dirty="0"/>
              <a:t> + </a:t>
            </a:r>
            <a:r>
              <a:rPr dirty="0" err="1"/>
              <a:t>记忆系统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模型层</a:t>
            </a:r>
            <a:r>
              <a:rPr dirty="0"/>
              <a:t> (</a:t>
            </a:r>
            <a:r>
              <a:rPr dirty="0" err="1"/>
              <a:t>MaaS</a:t>
            </a:r>
            <a:r>
              <a:rPr dirty="0"/>
              <a:t>)：GPT-4</a:t>
            </a:r>
            <a:r>
              <a:rPr lang="en-US" altLang="zh-CN" dirty="0"/>
              <a:t>o</a:t>
            </a:r>
            <a:r>
              <a:rPr dirty="0"/>
              <a:t> / DeepSeek-70B (</a:t>
            </a:r>
            <a:r>
              <a:rPr dirty="0" err="1"/>
              <a:t>混合部署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核心引擎亮点：通用工具网关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88136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7466" y="1383452"/>
            <a:ext cx="10349653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痛点解决：如何让</a:t>
            </a:r>
            <a:r>
              <a:rPr dirty="0"/>
              <a:t> AI </a:t>
            </a:r>
            <a:r>
              <a:rPr dirty="0" err="1"/>
              <a:t>调用本地复杂的</a:t>
            </a:r>
            <a:r>
              <a:rPr dirty="0"/>
              <a:t> Python/C++ </a:t>
            </a:r>
            <a:r>
              <a:rPr dirty="0" err="1"/>
              <a:t>业务代码</a:t>
            </a:r>
            <a:r>
              <a:rPr dirty="0"/>
              <a:t>？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技术方案：基于</a:t>
            </a:r>
            <a:r>
              <a:rPr dirty="0"/>
              <a:t> MCP (Model Context Protocol) </a:t>
            </a:r>
            <a:r>
              <a:rPr dirty="0" err="1"/>
              <a:t>协议</a:t>
            </a:r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案例演示</a:t>
            </a:r>
            <a:r>
              <a:rPr dirty="0"/>
              <a:t>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智能体</a:t>
            </a:r>
            <a:r>
              <a:rPr dirty="0"/>
              <a:t> -&gt; </a:t>
            </a:r>
            <a:r>
              <a:rPr dirty="0" err="1"/>
              <a:t>编排引擎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-&gt; </a:t>
            </a:r>
            <a:r>
              <a:rPr dirty="0" err="1"/>
              <a:t>直接调度</a:t>
            </a:r>
            <a:r>
              <a:rPr dirty="0"/>
              <a:t> backend.py (Python)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-&gt; </a:t>
            </a:r>
            <a:r>
              <a:rPr dirty="0" err="1"/>
              <a:t>调用</a:t>
            </a:r>
            <a:r>
              <a:rPr dirty="0"/>
              <a:t> ExportPetroFileV32.exe (</a:t>
            </a:r>
            <a:r>
              <a:rPr dirty="0" err="1"/>
              <a:t>遗留</a:t>
            </a:r>
            <a:r>
              <a:rPr dirty="0"/>
              <a:t> C++ </a:t>
            </a:r>
            <a:r>
              <a:rPr dirty="0" err="1"/>
              <a:t>模块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优势：解耦大模型与底层业务逻辑，支持异构语言环境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知识中台：RAG 检索增强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功能：让模型拥有企业私有知识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流程：文档上传 -&gt; 自动切片 -&gt; 向量化存储 -&gt; 语义检索 -&gt; 回答生成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特色能力：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支持多格式解析 (PDF, MD, Word, 代码)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源头溯源：回答中包含原文引用链接，确保可信度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知识应用：如“基于技术文档自动生成 PPT”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技术栈选型 (Tech Stack)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后端：Python (FastAPI) + LangChain / LangGraph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前端：React + 流程编排组件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向量数据库：PGVector (推荐) 或 Milvus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核心协议：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全面适配 MCP (Model Context Protocol)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确保工具生态兼容性，方便未来扩展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部署架构：Docker 容器化 + K8s 集群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基础设施配置 (Resource Requirements)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方案</a:t>
            </a:r>
            <a:r>
              <a:rPr dirty="0"/>
              <a:t> </a:t>
            </a:r>
            <a:r>
              <a:rPr dirty="0" err="1"/>
              <a:t>A：混合云</a:t>
            </a:r>
            <a:r>
              <a:rPr dirty="0"/>
              <a:t>/API </a:t>
            </a:r>
            <a:r>
              <a:rPr dirty="0" err="1"/>
              <a:t>模式</a:t>
            </a:r>
            <a:r>
              <a:rPr dirty="0"/>
              <a:t> (</a:t>
            </a:r>
            <a:r>
              <a:rPr dirty="0" err="1"/>
              <a:t>推荐</a:t>
            </a:r>
            <a:r>
              <a:rPr dirty="0"/>
              <a:t> - </a:t>
            </a:r>
            <a:r>
              <a:rPr dirty="0" err="1"/>
              <a:t>高性价比</a:t>
            </a:r>
            <a:r>
              <a:rPr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应用服务器</a:t>
            </a:r>
            <a:r>
              <a:rPr dirty="0"/>
              <a:t> (2台)：</a:t>
            </a:r>
            <a:r>
              <a:rPr dirty="0" err="1"/>
              <a:t>运行</a:t>
            </a:r>
            <a:r>
              <a:rPr dirty="0"/>
              <a:t> Agent </a:t>
            </a:r>
            <a:r>
              <a:rPr dirty="0" err="1"/>
              <a:t>逻辑、MCP</a:t>
            </a:r>
            <a:r>
              <a:rPr dirty="0"/>
              <a:t> Server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向量库服务器</a:t>
            </a:r>
            <a:r>
              <a:rPr dirty="0"/>
              <a:t> (1台)：</a:t>
            </a:r>
            <a:r>
              <a:rPr dirty="0" err="1"/>
              <a:t>大内存，存储企业知识库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遗留系统节点</a:t>
            </a:r>
            <a:r>
              <a:rPr dirty="0"/>
              <a:t> (1台 Windows)：</a:t>
            </a:r>
            <a:r>
              <a:rPr dirty="0" err="1"/>
              <a:t>运行旧版</a:t>
            </a:r>
            <a:r>
              <a:rPr dirty="0"/>
              <a:t> C++ </a:t>
            </a:r>
            <a:r>
              <a:rPr dirty="0" err="1"/>
              <a:t>工具</a:t>
            </a:r>
            <a:endParaRPr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方案</a:t>
            </a:r>
            <a:r>
              <a:rPr dirty="0"/>
              <a:t> </a:t>
            </a:r>
            <a:r>
              <a:rPr dirty="0" err="1"/>
              <a:t>B：私有化部署</a:t>
            </a:r>
            <a:r>
              <a:rPr dirty="0"/>
              <a:t> (</a:t>
            </a:r>
            <a:r>
              <a:rPr dirty="0" err="1"/>
              <a:t>数据严控</a:t>
            </a:r>
            <a:r>
              <a:rPr dirty="0"/>
              <a:t>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LLM </a:t>
            </a:r>
            <a:r>
              <a:rPr dirty="0" err="1"/>
              <a:t>推理集群：需配备</a:t>
            </a:r>
            <a:r>
              <a:rPr dirty="0"/>
              <a:t> NVIDIA A100/H800 或 RTX 4090 </a:t>
            </a:r>
            <a:r>
              <a:rPr dirty="0" err="1"/>
              <a:t>集群</a:t>
            </a:r>
            <a:endParaRPr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显存需求：支持</a:t>
            </a:r>
            <a:r>
              <a:rPr dirty="0"/>
              <a:t> 70B+ </a:t>
            </a:r>
            <a:r>
              <a:rPr dirty="0" err="1"/>
              <a:t>参数模型</a:t>
            </a:r>
            <a:r>
              <a:rPr dirty="0"/>
              <a:t> (如 DeepSeek-70B)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成本构成与预算 (Budget Breakdown)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一次性投入 (CAPEX)：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硬件：服务器与 GPU 采购费用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软件：OS、数据库授权、数据清洗人力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研发人力：架构师、前后端、Prompt 工程师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持续运营 (OPEX)：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Token 费用：公有云 API 调用费 (按量)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能耗与维保：私有化机房电费、系统运维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持续迭代：Agent 技能更新、知识库维护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实施路线图 (Project 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56453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阶段一：MVP</a:t>
            </a:r>
            <a:r>
              <a:rPr sz="2000" dirty="0"/>
              <a:t> </a:t>
            </a:r>
            <a:r>
              <a:rPr sz="2000" dirty="0" err="1"/>
              <a:t>原型</a:t>
            </a:r>
            <a:r>
              <a:rPr sz="2000" dirty="0"/>
              <a:t> (1-2个月)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核心对话界面上线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跑通</a:t>
            </a:r>
            <a:r>
              <a:rPr sz="1600" dirty="0"/>
              <a:t> C++/Python </a:t>
            </a:r>
            <a:r>
              <a:rPr sz="1600" dirty="0" err="1"/>
              <a:t>混合调用流程</a:t>
            </a:r>
            <a:r>
              <a:rPr sz="1600" dirty="0"/>
              <a:t> (Benchmark)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基础</a:t>
            </a:r>
            <a:r>
              <a:rPr sz="1600" dirty="0"/>
              <a:t> RAG </a:t>
            </a:r>
            <a:r>
              <a:rPr sz="1600" dirty="0" err="1"/>
              <a:t>问答功能</a:t>
            </a:r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阶段二：平台化</a:t>
            </a:r>
            <a:r>
              <a:rPr sz="2000" dirty="0"/>
              <a:t> (3-4个月)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可视化</a:t>
            </a:r>
            <a:r>
              <a:rPr sz="1600" dirty="0"/>
              <a:t> Agent </a:t>
            </a:r>
            <a:r>
              <a:rPr sz="1600" dirty="0" err="1"/>
              <a:t>编排界面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多用户权限体系</a:t>
            </a:r>
            <a:endParaRPr sz="1600" dirty="0"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rPr sz="2400" dirty="0" err="1"/>
              <a:t>阶段三：生态化</a:t>
            </a:r>
            <a:r>
              <a:rPr sz="2400" dirty="0"/>
              <a:t> (6个月+)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开放</a:t>
            </a:r>
            <a:r>
              <a:rPr sz="1600" dirty="0"/>
              <a:t> </a:t>
            </a:r>
            <a:r>
              <a:rPr sz="1600" dirty="0" err="1"/>
              <a:t>API，构建内部</a:t>
            </a:r>
            <a:r>
              <a:rPr sz="1600" dirty="0"/>
              <a:t> Agent </a:t>
            </a:r>
            <a:r>
              <a:rPr sz="1600" dirty="0" err="1"/>
              <a:t>技能市场</a:t>
            </a:r>
            <a:endParaRPr sz="1600" dirty="0"/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整合第三方</a:t>
            </a:r>
            <a:r>
              <a:rPr sz="1600" dirty="0"/>
              <a:t> ERP/CRM </a:t>
            </a:r>
            <a:r>
              <a:rPr sz="1600" dirty="0" err="1"/>
              <a:t>系统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预期收益 (ROI)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1200"/>
              </a:spcAft>
              <a:defRPr sz="2800">
                <a:solidFill>
                  <a:srgbClr val="333333"/>
                </a:solidFill>
                <a:latin typeface="Microsoft YaHei"/>
              </a:defRPr>
            </a:pPr>
            <a:r>
              <a:t>效率提升：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复杂数据处理流程从“小时级”缩短至“分钟级”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知识沉淀：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将散落在员工电脑里的文档变为可检索的企业资产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业务创新：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快速生成各类分析报告、PPT，支持复杂决策辅助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44952" cy="3044952"/>
          </a:xfrm>
          <a:prstGeom prst="rtTriangl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3657600" cy="18288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让 AI 成为企业的核心生产力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Q &amp; A</a:t>
            </a:r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endParaRPr/>
          </a:p>
          <a:p>
            <a:pPr>
              <a:defRPr sz="2400">
                <a:solidFill>
                  <a:srgbClr val="F0F4F8"/>
                </a:solidFill>
                <a:latin typeface="Microsoft YaHei"/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1786</Words>
  <Application>Microsoft Office PowerPoint</Application>
  <PresentationFormat>宽屏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宋体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James Zhang</cp:lastModifiedBy>
  <cp:revision>11</cp:revision>
  <dcterms:created xsi:type="dcterms:W3CDTF">2013-01-27T09:14:16Z</dcterms:created>
  <dcterms:modified xsi:type="dcterms:W3CDTF">2026-01-14T07:58:07Z</dcterms:modified>
  <cp:category/>
</cp:coreProperties>
</file>