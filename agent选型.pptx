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9144000" y="0"/>
            <a:ext cx="3044952" cy="3044952"/>
          </a:xfrm>
          <a:prstGeom prst="rtTriangl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3657600" cy="18288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企业级</a:t>
            </a:r>
            <a:r>
              <a:rPr dirty="0"/>
              <a:t> AI Agent </a:t>
            </a:r>
            <a:r>
              <a:rPr dirty="0" err="1"/>
              <a:t>智能体平台建设方案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构建“数字员工”生产力引擎，驱动业务智能化转型</a:t>
            </a:r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汇报人：[您的名字/团队名称]</a:t>
            </a:r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日期：2026年1月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核心愿景 (Executive Summary)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目标：打造企业统一的</a:t>
            </a:r>
            <a:r>
              <a:rPr sz="2400" dirty="0"/>
              <a:t> AI </a:t>
            </a:r>
            <a:r>
              <a:rPr sz="2400" dirty="0" err="1"/>
              <a:t>智能体开发与运行平台</a:t>
            </a:r>
            <a:endParaRPr sz="24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核心价值主张</a:t>
            </a:r>
            <a:r>
              <a:rPr sz="2400"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低门槛：让业务人员也能“雇佣”数字员工</a:t>
            </a:r>
            <a:endParaRPr sz="20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破孤岛：打通文档、数据库与遗留系统</a:t>
            </a:r>
            <a:endParaRPr sz="20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高效率：实现从“对话”到“行动”的自动化闭环</a:t>
            </a:r>
            <a:endParaRPr sz="20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平台关键产出</a:t>
            </a:r>
            <a:r>
              <a:rPr sz="2400"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/>
              <a:t>Agent </a:t>
            </a:r>
            <a:r>
              <a:rPr sz="2000" dirty="0" err="1"/>
              <a:t>开发工坊</a:t>
            </a:r>
            <a:r>
              <a:rPr sz="2000" dirty="0"/>
              <a:t> (</a:t>
            </a:r>
            <a:r>
              <a:rPr sz="2000" dirty="0" err="1"/>
              <a:t>可视编排</a:t>
            </a:r>
            <a:r>
              <a:rPr sz="2000" dirty="0"/>
              <a:t>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工具连接网关</a:t>
            </a:r>
            <a:r>
              <a:rPr sz="2000" dirty="0"/>
              <a:t> (MCP Gateway)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知识中台</a:t>
            </a:r>
            <a:r>
              <a:rPr sz="2000" dirty="0"/>
              <a:t> (Knowledge Hub)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现状与痛点 (Why Now?)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行业趋势：大模型从 Chat (闲聊) 进化为 Agent (行动)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当前企业痛点：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能力割裂：文档知识与业务系统无法互通</a:t>
            </a:r>
          </a:p>
          <a:p>
            <a:pPr lvl="2"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 (例：LLM 无法理解 C++ 处理的油气数据)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僵化：传统 RPA 无法处理模糊指令</a:t>
            </a:r>
          </a:p>
          <a:p>
            <a:pPr lvl="2"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 (例：“分析这份报告，如果没有结论则忽略”)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管控缺失：缺乏统一的安全审计与权限管理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平台总体架构 (High-Level Architecture)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88136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21"/>
            <a:ext cx="105156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架构设计分层</a:t>
            </a:r>
            <a:r>
              <a:rPr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应用层：智能客服、自动化办公、专业数据分析助手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功能层：Agent</a:t>
            </a:r>
            <a:r>
              <a:rPr dirty="0"/>
              <a:t> </a:t>
            </a:r>
            <a:r>
              <a:rPr dirty="0" err="1"/>
              <a:t>开发工坊、应用市场、管理后台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引擎层</a:t>
            </a:r>
            <a:r>
              <a:rPr dirty="0"/>
              <a:t> (Brain)：</a:t>
            </a:r>
            <a:r>
              <a:rPr dirty="0" err="1"/>
              <a:t>ReAct</a:t>
            </a:r>
            <a:r>
              <a:rPr dirty="0"/>
              <a:t> </a:t>
            </a:r>
            <a:r>
              <a:rPr dirty="0" err="1"/>
              <a:t>编排</a:t>
            </a:r>
            <a:r>
              <a:rPr dirty="0"/>
              <a:t> + MCP </a:t>
            </a:r>
            <a:r>
              <a:rPr dirty="0" err="1"/>
              <a:t>工具网关</a:t>
            </a:r>
            <a:r>
              <a:rPr dirty="0"/>
              <a:t> + </a:t>
            </a:r>
            <a:r>
              <a:rPr dirty="0" err="1"/>
              <a:t>记忆系统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模型层</a:t>
            </a:r>
            <a:r>
              <a:rPr dirty="0"/>
              <a:t> (</a:t>
            </a:r>
            <a:r>
              <a:rPr dirty="0" err="1"/>
              <a:t>MaaS</a:t>
            </a:r>
            <a:r>
              <a:rPr dirty="0"/>
              <a:t>)：GPT-4</a:t>
            </a:r>
            <a:r>
              <a:rPr lang="en-US" altLang="zh-CN" dirty="0"/>
              <a:t>o</a:t>
            </a:r>
            <a:r>
              <a:rPr dirty="0"/>
              <a:t> / DeepSeek-70B (</a:t>
            </a:r>
            <a:r>
              <a:rPr dirty="0" err="1"/>
              <a:t>混合部署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核心引擎亮点：通用工具网关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88136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7466" y="1383452"/>
            <a:ext cx="10349653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痛点解决：如何让</a:t>
            </a:r>
            <a:r>
              <a:rPr dirty="0"/>
              <a:t> AI </a:t>
            </a:r>
            <a:r>
              <a:rPr dirty="0" err="1"/>
              <a:t>调用本地复杂的</a:t>
            </a:r>
            <a:r>
              <a:rPr dirty="0"/>
              <a:t> Python/C++ </a:t>
            </a:r>
            <a:r>
              <a:rPr dirty="0" err="1"/>
              <a:t>业务代码</a:t>
            </a:r>
            <a:r>
              <a:rPr dirty="0"/>
              <a:t>？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技术方案：基于</a:t>
            </a:r>
            <a:r>
              <a:rPr dirty="0"/>
              <a:t> MCP (Model Context Protocol) </a:t>
            </a:r>
            <a:r>
              <a:rPr dirty="0" err="1"/>
              <a:t>协议</a:t>
            </a:r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案例演示</a:t>
            </a:r>
            <a:r>
              <a:rPr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智能体</a:t>
            </a:r>
            <a:r>
              <a:rPr dirty="0"/>
              <a:t> -&gt; </a:t>
            </a:r>
            <a:r>
              <a:rPr dirty="0" err="1"/>
              <a:t>编排引擎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-&gt; </a:t>
            </a:r>
            <a:r>
              <a:rPr dirty="0" err="1"/>
              <a:t>直接调度</a:t>
            </a:r>
            <a:r>
              <a:rPr dirty="0"/>
              <a:t> backend.py (Python)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-&gt; </a:t>
            </a:r>
            <a:r>
              <a:rPr dirty="0" err="1"/>
              <a:t>调用</a:t>
            </a:r>
            <a:r>
              <a:rPr dirty="0"/>
              <a:t> ExportPetroFileV32.exe (</a:t>
            </a:r>
            <a:r>
              <a:rPr dirty="0" err="1"/>
              <a:t>遗留</a:t>
            </a:r>
            <a:r>
              <a:rPr dirty="0"/>
              <a:t> C++ </a:t>
            </a:r>
            <a:r>
              <a:rPr dirty="0" err="1"/>
              <a:t>模块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优势：解耦大模型与底层业务逻辑，支持异构语言环境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知识中台：RAG 检索增强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功能：让模型拥有企业私有知识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流程：文档上传 -&gt; 自动切片 -&gt; 向量化存储 -&gt; 语义检索 -&gt; 回答生成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特色能力：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支持多格式解析 (PDF, MD, Word, 代码)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源头溯源：回答中包含原文引用链接，确保可信度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知识应用：如“基于技术文档自动生成 PPT”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技术栈选型 (Tech Stack)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后端：Python (FastAPI) + LangChain / LangGraph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前端：React + 流程编排组件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向量数据库：PGVector (推荐) 或 Milvus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核心协议：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全面适配 MCP (Model Context Protocol)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确保工具生态兼容性，方便未来扩展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部署架构：Docker 容器化 + K8s 集群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基础设施配置 (Resource Requirements)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方案</a:t>
            </a:r>
            <a:r>
              <a:rPr dirty="0"/>
              <a:t> </a:t>
            </a:r>
            <a:r>
              <a:rPr dirty="0" err="1"/>
              <a:t>A：混合云</a:t>
            </a:r>
            <a:r>
              <a:rPr dirty="0"/>
              <a:t>/API </a:t>
            </a:r>
            <a:r>
              <a:rPr dirty="0" err="1"/>
              <a:t>模式</a:t>
            </a:r>
            <a:r>
              <a:rPr dirty="0"/>
              <a:t> (</a:t>
            </a:r>
            <a:r>
              <a:rPr dirty="0" err="1"/>
              <a:t>推荐</a:t>
            </a:r>
            <a:r>
              <a:rPr dirty="0"/>
              <a:t> - </a:t>
            </a:r>
            <a:r>
              <a:rPr dirty="0" err="1"/>
              <a:t>高性价比</a:t>
            </a:r>
            <a:r>
              <a:rPr dirty="0"/>
              <a:t>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应用服务器</a:t>
            </a:r>
            <a:r>
              <a:rPr dirty="0"/>
              <a:t> (2台)：</a:t>
            </a:r>
            <a:r>
              <a:rPr dirty="0" err="1"/>
              <a:t>运行</a:t>
            </a:r>
            <a:r>
              <a:rPr dirty="0"/>
              <a:t> Agent </a:t>
            </a:r>
            <a:r>
              <a:rPr dirty="0" err="1"/>
              <a:t>逻辑、MCP</a:t>
            </a:r>
            <a:r>
              <a:rPr dirty="0"/>
              <a:t> Server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向量库服务器</a:t>
            </a:r>
            <a:r>
              <a:rPr dirty="0"/>
              <a:t> (1台)：</a:t>
            </a:r>
            <a:r>
              <a:rPr dirty="0" err="1"/>
              <a:t>大内存，存储企业知识库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遗留系统节点</a:t>
            </a:r>
            <a:r>
              <a:rPr dirty="0"/>
              <a:t> (1台 Windows)：</a:t>
            </a:r>
            <a:r>
              <a:rPr dirty="0" err="1"/>
              <a:t>运行旧版</a:t>
            </a:r>
            <a:r>
              <a:rPr dirty="0"/>
              <a:t> C++ </a:t>
            </a:r>
            <a:r>
              <a:rPr dirty="0" err="1"/>
              <a:t>工具</a:t>
            </a:r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方案</a:t>
            </a:r>
            <a:r>
              <a:rPr dirty="0"/>
              <a:t> </a:t>
            </a:r>
            <a:r>
              <a:rPr dirty="0" err="1"/>
              <a:t>B：私有化部署</a:t>
            </a:r>
            <a:r>
              <a:rPr dirty="0"/>
              <a:t> (</a:t>
            </a:r>
            <a:r>
              <a:rPr dirty="0" err="1"/>
              <a:t>数据严控</a:t>
            </a:r>
            <a:r>
              <a:rPr dirty="0"/>
              <a:t>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LLM </a:t>
            </a:r>
            <a:r>
              <a:rPr dirty="0" err="1"/>
              <a:t>推理集群：需配备</a:t>
            </a:r>
            <a:r>
              <a:rPr dirty="0"/>
              <a:t> NVIDIA A100/H800 或 RTX 4090 </a:t>
            </a:r>
            <a:r>
              <a:rPr dirty="0" err="1"/>
              <a:t>集群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显存需求：支持</a:t>
            </a:r>
            <a:r>
              <a:rPr dirty="0"/>
              <a:t> 70B+ </a:t>
            </a:r>
            <a:r>
              <a:rPr dirty="0" err="1"/>
              <a:t>参数模型</a:t>
            </a:r>
            <a:r>
              <a:rPr dirty="0"/>
              <a:t> (如 DeepSeek-70B)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成本构成与预算 (Budget Breakdown)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一次性投入 (CAPEX)：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硬件：服务器与 GPU 采购费用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软件：OS、数据库授权、数据清洗人力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研发人力：架构师、前后端、Prompt 工程师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持续运营 (OPEX)：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Token 费用：公有云 API 调用费 (按量)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能耗与维保：私有化机房电费、系统运维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持续迭代：Agent 技能更新、知识库维护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实施路线图 (Project Roadmap)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56453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阶段一：MVP</a:t>
            </a:r>
            <a:r>
              <a:rPr sz="2000" dirty="0"/>
              <a:t> </a:t>
            </a:r>
            <a:r>
              <a:rPr sz="2000" dirty="0" err="1"/>
              <a:t>原型</a:t>
            </a:r>
            <a:r>
              <a:rPr sz="2000" dirty="0"/>
              <a:t> (1-2个月)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核心对话界面上线</a:t>
            </a:r>
            <a:endParaRPr sz="16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跑通</a:t>
            </a:r>
            <a:r>
              <a:rPr sz="1600" dirty="0"/>
              <a:t> C++/Python </a:t>
            </a:r>
            <a:r>
              <a:rPr sz="1600" dirty="0" err="1"/>
              <a:t>混合调用流程</a:t>
            </a:r>
            <a:r>
              <a:rPr sz="1600" dirty="0"/>
              <a:t> (Benchmark)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基础</a:t>
            </a:r>
            <a:r>
              <a:rPr sz="1600" dirty="0"/>
              <a:t> RAG </a:t>
            </a:r>
            <a:r>
              <a:rPr sz="1600" dirty="0" err="1"/>
              <a:t>问答功能</a:t>
            </a:r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阶段二：平台化</a:t>
            </a:r>
            <a:r>
              <a:rPr sz="2000" dirty="0"/>
              <a:t> (3-4个月)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可视化</a:t>
            </a:r>
            <a:r>
              <a:rPr sz="1600" dirty="0"/>
              <a:t> Agent </a:t>
            </a:r>
            <a:r>
              <a:rPr sz="1600" dirty="0" err="1"/>
              <a:t>编排界面</a:t>
            </a:r>
            <a:endParaRPr sz="16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多用户权限体系</a:t>
            </a:r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阶段三：生态化</a:t>
            </a:r>
            <a:r>
              <a:rPr sz="2400" dirty="0"/>
              <a:t> (6个月+)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开放</a:t>
            </a:r>
            <a:r>
              <a:rPr sz="1600" dirty="0"/>
              <a:t> </a:t>
            </a:r>
            <a:r>
              <a:rPr sz="1600" dirty="0" err="1"/>
              <a:t>API，构建内部</a:t>
            </a:r>
            <a:r>
              <a:rPr sz="1600" dirty="0"/>
              <a:t> Agent </a:t>
            </a:r>
            <a:r>
              <a:rPr sz="1600" dirty="0" err="1"/>
              <a:t>技能市场</a:t>
            </a:r>
            <a:endParaRPr sz="16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整合第三方</a:t>
            </a:r>
            <a:r>
              <a:rPr sz="1600" dirty="0"/>
              <a:t> ERP/CRM </a:t>
            </a:r>
            <a:r>
              <a:rPr sz="1600" dirty="0" err="1"/>
              <a:t>系统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预期收益 (ROI)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效率提升：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复杂数据处理流程从“小时级”缩短至“分钟级”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知识沉淀：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将散落在员工电脑里的文档变为可检索的企业资产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业务创新：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快速生成各类分析报告、PPT，支持复杂决策辅助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9144000" y="0"/>
            <a:ext cx="3044952" cy="3044952"/>
          </a:xfrm>
          <a:prstGeom prst="rtTriangl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3657600" cy="18288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让 AI 成为企业的核心生产力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Q &amp; A</a:t>
            </a:r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523</Words>
  <Application>Microsoft Office PowerPoint</Application>
  <PresentationFormat>宽屏</PresentationFormat>
  <Paragraphs>115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James King</cp:lastModifiedBy>
  <cp:revision>10</cp:revision>
  <dcterms:created xsi:type="dcterms:W3CDTF">2013-01-27T09:14:16Z</dcterms:created>
  <dcterms:modified xsi:type="dcterms:W3CDTF">2026-01-13T19:12:19Z</dcterms:modified>
  <cp:category/>
</cp:coreProperties>
</file>